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518200" y="461880"/>
            <a:ext cx="715536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8320" y="1509840"/>
            <a:ext cx="6336720" cy="48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4145400" y="6378120"/>
            <a:ext cx="390060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>
          <a:xfrm>
            <a:off x="609480" y="6378120"/>
            <a:ext cx="280332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778240" y="6378120"/>
            <a:ext cx="28033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8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D2BA9B7-0813-4B45-A9AB-157571BAB091}" type="slidenum">
              <a:rPr lang="en-IN" sz="18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145400" y="6378120"/>
            <a:ext cx="390060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5"/>
          </p:nvPr>
        </p:nvSpPr>
        <p:spPr>
          <a:xfrm>
            <a:off x="609480" y="6378120"/>
            <a:ext cx="280332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6"/>
          </p:nvPr>
        </p:nvSpPr>
        <p:spPr>
          <a:xfrm>
            <a:off x="8778240" y="6378120"/>
            <a:ext cx="28033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8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2D70A7B-5047-4B26-BDAB-5517216564CA}" type="slidenum">
              <a:rPr lang="en-IN" sz="18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2126160"/>
            <a:ext cx="1036260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ftr" idx="7"/>
          </p:nvPr>
        </p:nvSpPr>
        <p:spPr>
          <a:xfrm>
            <a:off x="4145400" y="6378120"/>
            <a:ext cx="390060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8"/>
          </p:nvPr>
        </p:nvSpPr>
        <p:spPr>
          <a:xfrm>
            <a:off x="609480" y="6378120"/>
            <a:ext cx="280332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9"/>
          </p:nvPr>
        </p:nvSpPr>
        <p:spPr>
          <a:xfrm>
            <a:off x="8778240" y="6378120"/>
            <a:ext cx="28033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8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8A137CF-94FA-4963-8BDE-5F97F8784B3B}" type="slidenum">
              <a:rPr lang="en-IN" sz="18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518200" y="461880"/>
            <a:ext cx="715536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577520"/>
            <a:ext cx="5302800" cy="67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78760" y="1577520"/>
            <a:ext cx="5302800" cy="67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0"/>
          </p:nvPr>
        </p:nvSpPr>
        <p:spPr>
          <a:xfrm>
            <a:off x="4145400" y="6378120"/>
            <a:ext cx="390060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dt" idx="11"/>
          </p:nvPr>
        </p:nvSpPr>
        <p:spPr>
          <a:xfrm>
            <a:off x="609480" y="6378120"/>
            <a:ext cx="280332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sldNum" idx="12"/>
          </p:nvPr>
        </p:nvSpPr>
        <p:spPr>
          <a:xfrm>
            <a:off x="8778240" y="6378120"/>
            <a:ext cx="28033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8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37FC1DE-E7A5-47E4-8B53-9CD5604AB7F5}" type="slidenum">
              <a:rPr lang="en-IN" sz="18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518200" y="461880"/>
            <a:ext cx="715536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ftr" idx="13"/>
          </p:nvPr>
        </p:nvSpPr>
        <p:spPr>
          <a:xfrm>
            <a:off x="4145400" y="6378120"/>
            <a:ext cx="390060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4"/>
          </p:nvPr>
        </p:nvSpPr>
        <p:spPr>
          <a:xfrm>
            <a:off x="609480" y="6378120"/>
            <a:ext cx="280332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15"/>
          </p:nvPr>
        </p:nvSpPr>
        <p:spPr>
          <a:xfrm>
            <a:off x="8778240" y="6378120"/>
            <a:ext cx="28033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8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FBC09D9-CD42-4485-AF56-8DF17B037CCE}" type="slidenum">
              <a:rPr lang="en-IN" sz="18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764520" y="2079360"/>
            <a:ext cx="4662360" cy="68436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p>
            <a:pPr indent="0" algn="l"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IN" sz="2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Software Components of a DBMS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44;p1"/>
          <p:cNvSpPr/>
          <p:nvPr/>
        </p:nvSpPr>
        <p:spPr>
          <a:xfrm>
            <a:off x="1409760" y="2793240"/>
            <a:ext cx="9371880" cy="242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IN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Presented by: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algn="ctr">
              <a:lnSpc>
                <a:spcPct val="100000"/>
              </a:lnSpc>
              <a:tabLst>
                <a:tab pos="0" algn="l"/>
              </a:tabLst>
            </a:pPr>
            <a:r>
              <a:rPr lang="en-IN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Aadarsh. B (192565009)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algn="ctr">
              <a:lnSpc>
                <a:spcPct val="100000"/>
              </a:lnSpc>
              <a:tabLst>
                <a:tab pos="0" algn="l"/>
              </a:tabLst>
            </a:pP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CSA0506</a:t>
            </a:r>
            <a:r>
              <a:rPr lang="en-IN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IN" sz="2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:Database Management Systems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algn="ctr">
              <a:lnSpc>
                <a:spcPct val="100000"/>
              </a:lnSpc>
              <a:tabLst>
                <a:tab pos="0" algn="l"/>
              </a:tabLst>
            </a:pPr>
            <a:r>
              <a:rPr lang="en-IN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Date: 18/07/2026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algn="ctr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algn="ctr">
              <a:lnSpc>
                <a:spcPct val="100000"/>
              </a:lnSpc>
              <a:tabLst>
                <a:tab pos="0" algn="l"/>
              </a:tabLst>
            </a:pPr>
            <a:r>
              <a:rPr lang="en-IN" sz="2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Technical Presentation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Google Shape;45;p1"/>
          <p:cNvPicPr/>
          <p:nvPr/>
        </p:nvPicPr>
        <p:blipFill>
          <a:blip r:embed="rId1"/>
          <a:stretch/>
        </p:blipFill>
        <p:spPr>
          <a:xfrm>
            <a:off x="304920" y="465480"/>
            <a:ext cx="11277000" cy="90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648320" y="1559880"/>
            <a:ext cx="4319280" cy="6912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p>
            <a:pPr marL="126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Introduction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51;p2"/>
          <p:cNvSpPr/>
          <p:nvPr/>
        </p:nvSpPr>
        <p:spPr>
          <a:xfrm>
            <a:off x="1355400" y="2907000"/>
            <a:ext cx="9480240" cy="29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0520" rIns="0" bIns="0" anchor="t">
            <a:spAutoFit/>
          </a:bodyPr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 Database Management System (DBMS) is a complex software system that manages the storage, retrieval, and security of data. It consists of three primary functional layers: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5000"/>
              </a:lnSpc>
              <a:spcBef>
                <a:spcPts val="2299"/>
              </a:spcBef>
              <a:tabLst>
                <a:tab pos="0" algn="l"/>
              </a:tabLst>
            </a:pPr>
            <a:r>
              <a:rPr lang="en-IN" sz="18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Query Processor: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The "Brain" that translates user requests into executable instructions.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5000"/>
              </a:lnSpc>
              <a:tabLst>
                <a:tab pos="0" algn="l"/>
              </a:tabLst>
            </a:pPr>
            <a:r>
              <a:rPr lang="en-IN" sz="18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Storage Manager: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The "Body" that manages the physical interface between the DBMS and the OS file 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>
              <a:lnSpc>
                <a:spcPct val="115000"/>
              </a:lnSpc>
              <a:tabLst>
                <a:tab pos="0" algn="l"/>
              </a:tabLst>
            </a:pPr>
            <a:r>
              <a:rPr lang="en-IN" sz="18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Transaction Manager: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The "Guarantor" that ensures data integrity and system reliability.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3101"/>
              </a:spcBef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Google Shape;52;p2"/>
          <p:cNvPicPr/>
          <p:nvPr/>
        </p:nvPicPr>
        <p:blipFill>
          <a:blip r:embed="rId1"/>
          <a:stretch/>
        </p:blipFill>
        <p:spPr>
          <a:xfrm>
            <a:off x="380880" y="465480"/>
            <a:ext cx="11277000" cy="90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745360" y="1598760"/>
            <a:ext cx="6700320" cy="6912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Core Technical Explanation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58;p3"/>
          <p:cNvSpPr/>
          <p:nvPr/>
        </p:nvSpPr>
        <p:spPr>
          <a:xfrm>
            <a:off x="840600" y="2722680"/>
            <a:ext cx="5520240" cy="337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15000"/>
              </a:lnSpc>
              <a:spcBef>
                <a:spcPts val="1400"/>
              </a:spcBef>
              <a:tabLst>
                <a:tab pos="0" algn="l"/>
              </a:tabLst>
            </a:pPr>
            <a:r>
              <a:rPr lang="en-IN" sz="18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Bridging Users and Disk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The DBMS architecture provides a structured flow where user commands pass through layers of abstraction. This modularity allows for: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●"/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Independent optimization of storage and processing.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Times New Roman"/>
              <a:buChar char="●"/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Scalability of individual components.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Times New Roman"/>
              <a:buChar char="●"/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Enhanced security via centralized authorization controls.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1199"/>
              </a:spcBef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Google Shape;59;p3"/>
          <p:cNvPicPr/>
          <p:nvPr/>
        </p:nvPicPr>
        <p:blipFill>
          <a:blip r:embed="rId1"/>
          <a:stretch/>
        </p:blipFill>
        <p:spPr>
          <a:xfrm>
            <a:off x="152280" y="465480"/>
            <a:ext cx="11657880" cy="90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Google Shape;60;p3"/>
          <p:cNvPicPr/>
          <p:nvPr/>
        </p:nvPicPr>
        <p:blipFill>
          <a:blip r:embed="rId2"/>
          <a:stretch/>
        </p:blipFill>
        <p:spPr>
          <a:xfrm>
            <a:off x="7214760" y="2367720"/>
            <a:ext cx="4905720" cy="4113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800360" y="1670040"/>
            <a:ext cx="8590680" cy="69120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p>
            <a:pPr marL="126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Component I: The Query Processor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Google Shape;66;p4"/>
          <p:cNvSpPr/>
          <p:nvPr/>
        </p:nvSpPr>
        <p:spPr>
          <a:xfrm>
            <a:off x="947160" y="2490480"/>
            <a:ext cx="5104800" cy="38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Query Processor: Overview &amp; Roles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Key Roles: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Parsing: analyzing syntax.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Optimization: selecting a plan.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Execution: running the plan.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Main Objectives: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Minimize Response Time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Efficient Resource Usage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Correct Result Generation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High Throughput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Google Shape;67;p4"/>
          <p:cNvSpPr/>
          <p:nvPr/>
        </p:nvSpPr>
        <p:spPr>
          <a:xfrm>
            <a:off x="6705720" y="3200400"/>
            <a:ext cx="5180760" cy="28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"Brain" of the DBMS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Crucial for Performance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Complex Query Handling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Plan Generation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Input: SQL Query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Output: Execution Plan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Interacts with Storage Mgr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Interacts with Transaction Mgr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Google Shape;68;p4"/>
          <p:cNvPicPr/>
          <p:nvPr/>
        </p:nvPicPr>
        <p:blipFill>
          <a:blip r:embed="rId1"/>
          <a:stretch/>
        </p:blipFill>
        <p:spPr>
          <a:xfrm>
            <a:off x="304920" y="465480"/>
            <a:ext cx="11505600" cy="90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73;p5"/>
          <p:cNvSpPr/>
          <p:nvPr/>
        </p:nvSpPr>
        <p:spPr>
          <a:xfrm>
            <a:off x="2786040" y="1501920"/>
            <a:ext cx="739080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Query Processor Flow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Google Shape;75;p5"/>
          <p:cNvPicPr/>
          <p:nvPr/>
        </p:nvPicPr>
        <p:blipFill>
          <a:blip r:embed="rId1"/>
          <a:stretch/>
        </p:blipFill>
        <p:spPr>
          <a:xfrm>
            <a:off x="380880" y="465480"/>
            <a:ext cx="11277000" cy="90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"/>
          <p:cNvPicPr/>
          <p:nvPr/>
        </p:nvPicPr>
        <p:blipFill>
          <a:blip r:embed="rId2"/>
          <a:stretch/>
        </p:blipFill>
        <p:spPr>
          <a:xfrm>
            <a:off x="2788560" y="2209320"/>
            <a:ext cx="6355080" cy="4538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80;p6"/>
          <p:cNvSpPr/>
          <p:nvPr/>
        </p:nvSpPr>
        <p:spPr>
          <a:xfrm>
            <a:off x="1371600" y="2209680"/>
            <a:ext cx="9981360" cy="51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Key Roles: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Buffer Management: RAM vs Disk.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File Organization: Data structures.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Indexing: B+ Trees and Hashing.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Main Objectives: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Optimize Disk I/O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Fast Data Retrieval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Space Efficiency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Physical Data Mapping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Interface with OS File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81;p6"/>
          <p:cNvSpPr/>
          <p:nvPr/>
        </p:nvSpPr>
        <p:spPr>
          <a:xfrm>
            <a:off x="1828800" y="1497240"/>
            <a:ext cx="935892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Component II: The Storage Manager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Google Shape;82;p6"/>
          <p:cNvPicPr/>
          <p:nvPr/>
        </p:nvPicPr>
        <p:blipFill>
          <a:blip r:embed="rId1"/>
          <a:stretch/>
        </p:blipFill>
        <p:spPr>
          <a:xfrm>
            <a:off x="380880" y="465480"/>
            <a:ext cx="10972080" cy="90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228600" y="1492200"/>
            <a:ext cx="11429640" cy="68436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p>
            <a:pPr marL="300240"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Storage Manager: Deep Dive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Google Shape;88;p7"/>
          <p:cNvSpPr/>
          <p:nvPr/>
        </p:nvSpPr>
        <p:spPr>
          <a:xfrm>
            <a:off x="931320" y="2057400"/>
            <a:ext cx="6095160" cy="511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Buffer Manager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Maintains a pool of data pages in RAM.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Reduces slow disk access.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Uses replacement policies (LRU).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Indexing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B+ Tree for range queries.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Hash maps for point lookups.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Clustered Indexing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Stores related data together.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Optimizes sequential scans.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89;p7"/>
          <p:cNvSpPr/>
          <p:nvPr/>
        </p:nvSpPr>
        <p:spPr>
          <a:xfrm>
            <a:off x="6553080" y="2514600"/>
            <a:ext cx="4114080" cy="32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Disk Management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Physical block allocation.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Managing free space.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Page layout management.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Dealing with fragmentation.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Ensuring data persistence.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Google Shape;90;p7"/>
          <p:cNvPicPr/>
          <p:nvPr/>
        </p:nvPicPr>
        <p:blipFill>
          <a:blip r:embed="rId1"/>
          <a:stretch/>
        </p:blipFill>
        <p:spPr>
          <a:xfrm>
            <a:off x="609480" y="465480"/>
            <a:ext cx="10591200" cy="90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0" y="1388880"/>
            <a:ext cx="11429640" cy="11260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p>
            <a:pPr marL="12610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Component III: The Transaction Manager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96;p8"/>
          <p:cNvSpPr/>
          <p:nvPr/>
        </p:nvSpPr>
        <p:spPr>
          <a:xfrm>
            <a:off x="1181880" y="2561400"/>
            <a:ext cx="5676120" cy="269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1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Role &amp; Objectives: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Key Tasks: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- Concurrency Control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- Recovery Management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- Logging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- Deadlock Detection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- ACID Guarantee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Google Shape;97;p8"/>
          <p:cNvSpPr/>
          <p:nvPr/>
        </p:nvSpPr>
        <p:spPr>
          <a:xfrm>
            <a:off x="6858000" y="2450520"/>
            <a:ext cx="4342680" cy="28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ACID Properties: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Atomicity: All or nothing.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Consistency: Valid state.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Isolation: No interference.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Durability: Permanent save.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Google Shape;98;p8"/>
          <p:cNvPicPr/>
          <p:nvPr/>
        </p:nvPicPr>
        <p:blipFill>
          <a:blip r:embed="rId1"/>
          <a:stretch/>
        </p:blipFill>
        <p:spPr>
          <a:xfrm>
            <a:off x="304920" y="465480"/>
            <a:ext cx="11429280" cy="90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52480" y="1353600"/>
            <a:ext cx="7976520" cy="68436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p>
            <a:pPr marL="78372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0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Transaction Manager: Deep Dive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104;p9"/>
          <p:cNvSpPr/>
          <p:nvPr/>
        </p:nvSpPr>
        <p:spPr>
          <a:xfrm>
            <a:off x="909000" y="1534680"/>
            <a:ext cx="107290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0520" rIns="0" bIns="0" anchor="t">
            <a:sp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105;p9"/>
          <p:cNvSpPr/>
          <p:nvPr/>
        </p:nvSpPr>
        <p:spPr>
          <a:xfrm>
            <a:off x="567720" y="1971720"/>
            <a:ext cx="11200680" cy="511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Concurrency Control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Locks: Prevents multiple transactions from modifying same data.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Timestamping: Orders transactions by arrival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Two-Phase Locking (2PL): Ensures serializability.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Recovery Management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Log-based Recovery: Recording all changes to a log file.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Write-Ahead Logging (WAL): Log first, then database.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Checkpointing: Reducing recovery time by syncing to disk.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Undo/Redo: Restoring state after a crash.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Shadow Paging: Alternative to logging.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Google Shape;106;p9"/>
          <p:cNvPicPr/>
          <p:nvPr/>
        </p:nvPicPr>
        <p:blipFill>
          <a:blip r:embed="rId1"/>
          <a:stretch/>
        </p:blipFill>
        <p:spPr>
          <a:xfrm>
            <a:off x="380880" y="380880"/>
            <a:ext cx="11387520" cy="90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/>
          </p:nvPr>
        </p:nvSpPr>
        <p:spPr>
          <a:xfrm>
            <a:off x="914400" y="2286000"/>
            <a:ext cx="10058040" cy="453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User Request (SQL) → Query Processor (Plan) → Transaction Manager (Locks) → Storage Manager (Data Access) → Physical Disk (I/O).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The synergy of these components ensures: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- Correctness (QP)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- Consistency (TM)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- Performance (SM)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title"/>
          </p:nvPr>
        </p:nvSpPr>
        <p:spPr>
          <a:xfrm>
            <a:off x="2674440" y="1600200"/>
            <a:ext cx="7155360" cy="67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0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Interplay between Components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Google Shape;113;p10"/>
          <p:cNvPicPr/>
          <p:nvPr/>
        </p:nvPicPr>
        <p:blipFill>
          <a:blip r:embed="rId1"/>
          <a:stretch/>
        </p:blipFill>
        <p:spPr>
          <a:xfrm>
            <a:off x="533520" y="465480"/>
            <a:ext cx="11124360" cy="90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366000" y="2666880"/>
            <a:ext cx="6234480" cy="124524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 anchor="t">
            <a:spAutoFit/>
          </a:bodyPr>
          <a:p>
            <a:pPr marL="126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8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Thank You!!!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Google Shape;119;p11"/>
          <p:cNvPicPr/>
          <p:nvPr/>
        </p:nvPicPr>
        <p:blipFill>
          <a:blip r:embed="rId1"/>
          <a:stretch/>
        </p:blipFill>
        <p:spPr>
          <a:xfrm>
            <a:off x="357480" y="191520"/>
            <a:ext cx="1103040" cy="134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Google Shape;120;p11"/>
          <p:cNvPicPr/>
          <p:nvPr/>
        </p:nvPicPr>
        <p:blipFill>
          <a:blip r:embed="rId2"/>
          <a:stretch/>
        </p:blipFill>
        <p:spPr>
          <a:xfrm>
            <a:off x="10514160" y="191520"/>
            <a:ext cx="1519200" cy="1342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2025-02-28T15:07:37Z</dcterms:created>
  <dc:creator>sankar</dc:creator>
  <dc:description/>
  <dc:language>en-US</dc:language>
  <cp:lastModifiedBy/>
  <dcterms:modified xsi:type="dcterms:W3CDTF">2026-07-16T23:39:56Z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2025-02-28T00:00:00Z</vt:filetime>
  </property>
  <property fmtid="{D5CDD505-2E9C-101B-9397-08002B2CF9AE}" pid="5" name="Producer">
    <vt:lpwstr>Microsoft® PowerPoint® 2019</vt:lpwstr>
  </property>
</Properties>
</file>